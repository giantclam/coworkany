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2026年AI在智慧城市中的发展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人工智能驱动的城市未来</a:t>
            </a:r>
          </a:p>
          <a:p>
            <a:r>
              <a:t>2026年最新趋势与应用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智慧城市：定义与发展背景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定义：利用物联网、大数据、人工智能等技术，实现城市管理和服务的智能化</a:t>
            </a:r>
          </a:p>
          <a:p>
            <a:pPr>
              <a:spcBef>
                <a:spcPts val="1200"/>
              </a:spcBef>
              <a:defRPr sz="1800"/>
            </a:pPr>
            <a:r>
              <a:t>发展背景：</a:t>
            </a:r>
          </a:p>
          <a:p>
            <a:pPr>
              <a:spcBef>
                <a:spcPts val="1200"/>
              </a:spcBef>
              <a:defRPr sz="1800"/>
            </a:pPr>
            <a:r>
              <a:t>  • 全球城市化进程加速，城市人口持续增长</a:t>
            </a:r>
          </a:p>
          <a:p>
            <a:pPr>
              <a:spcBef>
                <a:spcPts val="1200"/>
              </a:spcBef>
              <a:defRPr sz="1800"/>
            </a:pPr>
            <a:r>
              <a:t>  • 城市管理面临交通拥堵、环境污染、资源短缺等挑战</a:t>
            </a:r>
          </a:p>
          <a:p>
            <a:pPr>
              <a:spcBef>
                <a:spcPts val="1200"/>
              </a:spcBef>
              <a:defRPr sz="1800"/>
            </a:pPr>
            <a:r>
              <a:t>  • AI技术成熟度提升，从愿景走向实际应用</a:t>
            </a:r>
          </a:p>
          <a:p>
            <a:pPr>
              <a:spcBef>
                <a:spcPts val="1200"/>
              </a:spcBef>
              <a:defRPr sz="1800"/>
            </a:pPr>
            <a:r>
              <a:t>  • 数字化转型成为城市发展的核心战略</a:t>
            </a:r>
          </a:p>
          <a:p>
            <a:pPr>
              <a:spcBef>
                <a:spcPts val="1200"/>
              </a:spcBef>
              <a:defRPr sz="1800"/>
            </a:pPr>
            <a:r>
              <a:t>市场规模：AI智慧城市应用市场近年来快速增长，2026年持续扩张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AI在智慧城市中的主要应用场景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1. 智能交通管理</a:t>
            </a:r>
          </a:p>
          <a:p>
            <a:pPr>
              <a:spcBef>
                <a:spcPts val="1200"/>
              </a:spcBef>
              <a:defRPr sz="1800"/>
            </a:pPr>
            <a:r>
              <a:t>  • 实时交通流量监控与优化</a:t>
            </a:r>
          </a:p>
          <a:p>
            <a:pPr>
              <a:spcBef>
                <a:spcPts val="1200"/>
              </a:spcBef>
              <a:defRPr sz="1800"/>
            </a:pPr>
            <a:r>
              <a:t>  • AI驱动的信号灯控制系统</a:t>
            </a:r>
          </a:p>
          <a:p>
            <a:pPr>
              <a:spcBef>
                <a:spcPts val="1200"/>
              </a:spcBef>
              <a:defRPr sz="1800"/>
            </a:pPr>
            <a:r>
              <a:t>  • 智能停车引导与管理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2. 智慧能源管理</a:t>
            </a:r>
          </a:p>
          <a:p>
            <a:pPr>
              <a:spcBef>
                <a:spcPts val="1200"/>
              </a:spcBef>
              <a:defRPr sz="1800"/>
            </a:pPr>
            <a:r>
              <a:t>  • 电网负载预测与优化</a:t>
            </a:r>
          </a:p>
          <a:p>
            <a:pPr>
              <a:spcBef>
                <a:spcPts val="1200"/>
              </a:spcBef>
              <a:defRPr sz="1800"/>
            </a:pPr>
            <a:r>
              <a:t>  • 长时储能系统（应对AI数据中心需求）</a:t>
            </a:r>
          </a:p>
          <a:p>
            <a:pPr>
              <a:spcBef>
                <a:spcPts val="1200"/>
              </a:spcBef>
              <a:defRPr sz="1800"/>
            </a:pPr>
            <a:r>
              <a:t>  • 可再生能源智能调度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AI应用场景（续）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3. 城市基础设施监控</a:t>
            </a:r>
          </a:p>
          <a:p>
            <a:pPr>
              <a:spcBef>
                <a:spcPts val="1200"/>
              </a:spcBef>
              <a:defRPr sz="1800"/>
            </a:pPr>
            <a:r>
              <a:t>  • 实时传感器网络监测</a:t>
            </a:r>
          </a:p>
          <a:p>
            <a:pPr>
              <a:spcBef>
                <a:spcPts val="1200"/>
              </a:spcBef>
              <a:defRPr sz="1800"/>
            </a:pPr>
            <a:r>
              <a:t>  • 预测性维护系统</a:t>
            </a:r>
          </a:p>
          <a:p>
            <a:pPr>
              <a:spcBef>
                <a:spcPts val="1200"/>
              </a:spcBef>
              <a:defRPr sz="1800"/>
            </a:pPr>
            <a:r>
              <a:t>  • 数字孪生技术模拟城市运行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4. 认知政府服务</a:t>
            </a:r>
          </a:p>
          <a:p>
            <a:pPr>
              <a:spcBef>
                <a:spcPts val="1200"/>
              </a:spcBef>
              <a:defRPr sz="1800"/>
            </a:pPr>
            <a:r>
              <a:t>  • 数字化采购与工作流自动化</a:t>
            </a:r>
          </a:p>
          <a:p>
            <a:pPr>
              <a:spcBef>
                <a:spcPts val="1200"/>
              </a:spcBef>
              <a:defRPr sz="1800"/>
            </a:pPr>
            <a:r>
              <a:t>  • GIS地理信息系统集成</a:t>
            </a:r>
          </a:p>
          <a:p>
            <a:pPr>
              <a:spcBef>
                <a:spcPts val="1200"/>
              </a:spcBef>
              <a:defRPr sz="1800"/>
            </a:pPr>
            <a:r>
              <a:t>  • AI辅助决策支持系统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2026年最新技术和趋势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1. 认知能力加速发展</a:t>
            </a:r>
          </a:p>
          <a:p>
            <a:pPr>
              <a:spcBef>
                <a:spcPts val="1200"/>
              </a:spcBef>
              <a:defRPr sz="1800"/>
            </a:pPr>
            <a:r>
              <a:t>  • 高级传感技术：实时城市感知</a:t>
            </a:r>
          </a:p>
          <a:p>
            <a:pPr>
              <a:spcBef>
                <a:spcPts val="1200"/>
              </a:spcBef>
              <a:defRPr sz="1800"/>
            </a:pPr>
            <a:r>
              <a:t>  • 数字孪生：虚拟城市模拟与优化</a:t>
            </a:r>
          </a:p>
          <a:p>
            <a:pPr>
              <a:spcBef>
                <a:spcPts val="1200"/>
              </a:spcBef>
              <a:defRPr sz="1800"/>
            </a:pPr>
            <a:r>
              <a:t>  • 智能体系统：自主决策与执行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2. 运营成熟度提升</a:t>
            </a:r>
          </a:p>
          <a:p>
            <a:pPr>
              <a:spcBef>
                <a:spcPts val="1200"/>
              </a:spcBef>
              <a:defRPr sz="1800"/>
            </a:pPr>
            <a:r>
              <a:t>  • 从概念验证到规模化部署</a:t>
            </a:r>
          </a:p>
          <a:p>
            <a:pPr>
              <a:spcBef>
                <a:spcPts val="1200"/>
              </a:spcBef>
              <a:defRPr sz="1800"/>
            </a:pPr>
            <a:r>
              <a:t>  • 跨部门数据集成与共享</a:t>
            </a:r>
          </a:p>
          <a:p>
            <a:pPr>
              <a:spcBef>
                <a:spcPts val="1200"/>
              </a:spcBef>
              <a:defRPr sz="1800"/>
            </a:pPr>
            <a:r>
              <a:t>  • 标准化与互操作性增强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2026年技术趋势（续）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3. AI基础设施扩张</a:t>
            </a:r>
          </a:p>
          <a:p>
            <a:pPr>
              <a:spcBef>
                <a:spcPts val="1200"/>
              </a:spcBef>
              <a:defRPr sz="1800"/>
            </a:pPr>
            <a:r>
              <a:t>  • 数据中心容量大幅增长（如德国计划2030年翻倍）</a:t>
            </a:r>
          </a:p>
          <a:p>
            <a:pPr>
              <a:spcBef>
                <a:spcPts val="1200"/>
              </a:spcBef>
              <a:defRPr sz="1800"/>
            </a:pPr>
            <a:r>
              <a:t>  • AI算力需求推动能源存储创新</a:t>
            </a:r>
          </a:p>
          <a:p>
            <a:pPr>
              <a:spcBef>
                <a:spcPts val="1200"/>
              </a:spcBef>
              <a:defRPr sz="1800"/>
            </a:pPr>
            <a:r>
              <a:t>  • 边缘计算与云计算协同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4. 可持续发展导向</a:t>
            </a:r>
          </a:p>
          <a:p>
            <a:pPr>
              <a:spcBef>
                <a:spcPts val="1200"/>
              </a:spcBef>
              <a:defRPr sz="1800"/>
            </a:pPr>
            <a:r>
              <a:t>  • 绿色AI技术应用</a:t>
            </a:r>
          </a:p>
          <a:p>
            <a:pPr>
              <a:spcBef>
                <a:spcPts val="1200"/>
              </a:spcBef>
              <a:defRPr sz="1800"/>
            </a:pPr>
            <a:r>
              <a:t>  • 碳排放监测与管理</a:t>
            </a:r>
          </a:p>
          <a:p>
            <a:pPr>
              <a:spcBef>
                <a:spcPts val="1200"/>
              </a:spcBef>
              <a:defRPr sz="1800"/>
            </a:pPr>
            <a:r>
              <a:t>  • 循环经济智能化支持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成功案例分析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案例1：中国雄安新区</a:t>
            </a:r>
          </a:p>
          <a:p>
            <a:pPr>
              <a:spcBef>
                <a:spcPts val="1200"/>
              </a:spcBef>
              <a:defRPr sz="1800"/>
            </a:pPr>
            <a:r>
              <a:t>  • 定位：未来之城示范项目</a:t>
            </a:r>
          </a:p>
          <a:p>
            <a:pPr>
              <a:spcBef>
                <a:spcPts val="1200"/>
              </a:spcBef>
              <a:defRPr sz="1800"/>
            </a:pPr>
            <a:r>
              <a:t>  • 特点：从规划阶段就融入AI和智慧城市理念</a:t>
            </a:r>
          </a:p>
          <a:p>
            <a:pPr>
              <a:spcBef>
                <a:spcPts val="1200"/>
              </a:spcBef>
              <a:defRPr sz="1800"/>
            </a:pPr>
            <a:r>
              <a:t>  • 应用：智能基础设施、数字孪生城市管理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案例2：全球智慧城市奖项（2026）</a:t>
            </a:r>
          </a:p>
          <a:p>
            <a:pPr>
              <a:spcBef>
                <a:spcPts val="1200"/>
              </a:spcBef>
              <a:defRPr sz="1800"/>
            </a:pPr>
            <a:r>
              <a:t>  • 趋势：项目从愿景转向实际影响</a:t>
            </a:r>
          </a:p>
          <a:p>
            <a:pPr>
              <a:spcBef>
                <a:spcPts val="1200"/>
              </a:spcBef>
              <a:defRPr sz="1800"/>
            </a:pPr>
            <a:r>
              <a:t>  • 成果：数字采购、实时监控、数据集成广泛应用</a:t>
            </a:r>
          </a:p>
          <a:p>
            <a:pPr>
              <a:spcBef>
                <a:spcPts val="1200"/>
              </a:spcBef>
              <a:defRPr sz="1800"/>
            </a:pPr>
            <a:r>
              <a:t>  • 特点：运营成熟度显著提升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成功案例分析（续）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案例3：智能交通系统</a:t>
            </a:r>
          </a:p>
          <a:p>
            <a:pPr>
              <a:spcBef>
                <a:spcPts val="1200"/>
              </a:spcBef>
              <a:defRPr sz="1800"/>
            </a:pPr>
            <a:r>
              <a:t>  • 实时交通重新布线技术</a:t>
            </a:r>
          </a:p>
          <a:p>
            <a:pPr>
              <a:spcBef>
                <a:spcPts val="1200"/>
              </a:spcBef>
              <a:defRPr sz="1800"/>
            </a:pPr>
            <a:r>
              <a:t>  • AI优化信号灯系统，减少拥堵30-40%</a:t>
            </a:r>
          </a:p>
          <a:p>
            <a:pPr>
              <a:spcBef>
                <a:spcPts val="1200"/>
              </a:spcBef>
              <a:defRPr sz="1800"/>
            </a:pPr>
            <a:r>
              <a:t>  • 预测性交通管理，提前应对高峰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案例4：能源管理创新</a:t>
            </a:r>
          </a:p>
          <a:p>
            <a:pPr>
              <a:spcBef>
                <a:spcPts val="1200"/>
              </a:spcBef>
              <a:defRPr sz="1800"/>
            </a:pPr>
            <a:r>
              <a:t>  • 长时储能系统部署（应对AI数据中心需求）</a:t>
            </a:r>
          </a:p>
          <a:p>
            <a:pPr>
              <a:spcBef>
                <a:spcPts val="1200"/>
              </a:spcBef>
              <a:defRPr sz="1800"/>
            </a:pPr>
            <a:r>
              <a:t>  • 智能电网负载平衡</a:t>
            </a:r>
          </a:p>
          <a:p>
            <a:pPr>
              <a:spcBef>
                <a:spcPts val="1200"/>
              </a:spcBef>
              <a:defRPr sz="1800"/>
            </a:pPr>
            <a:r>
              <a:t>  • 可再生能源利用率提升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面临的挑战与机遇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挑战：</a:t>
            </a:r>
          </a:p>
          <a:p>
            <a:pPr>
              <a:spcBef>
                <a:spcPts val="1200"/>
              </a:spcBef>
              <a:defRPr sz="1800"/>
            </a:pPr>
            <a:r>
              <a:t>  • 数据隐私与安全保护</a:t>
            </a:r>
          </a:p>
          <a:p>
            <a:pPr>
              <a:spcBef>
                <a:spcPts val="1200"/>
              </a:spcBef>
              <a:defRPr sz="1800"/>
            </a:pPr>
            <a:r>
              <a:t>  • 跨部门协调与数据共享障碍</a:t>
            </a:r>
          </a:p>
          <a:p>
            <a:pPr>
              <a:spcBef>
                <a:spcPts val="1200"/>
              </a:spcBef>
              <a:defRPr sz="1800"/>
            </a:pPr>
            <a:r>
              <a:t>  • 技术投资回报周期长</a:t>
            </a:r>
          </a:p>
          <a:p>
            <a:pPr>
              <a:spcBef>
                <a:spcPts val="1200"/>
              </a:spcBef>
              <a:defRPr sz="1800"/>
            </a:pPr>
            <a:r>
              <a:t>  • AI伦理与治理问题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机遇：</a:t>
            </a:r>
          </a:p>
          <a:p>
            <a:pPr>
              <a:spcBef>
                <a:spcPts val="1200"/>
              </a:spcBef>
              <a:defRPr sz="1800"/>
            </a:pPr>
            <a:r>
              <a:t>  • 提升城市运营效率20-30%</a:t>
            </a:r>
          </a:p>
          <a:p>
            <a:pPr>
              <a:spcBef>
                <a:spcPts val="1200"/>
              </a:spcBef>
              <a:defRPr sz="1800"/>
            </a:pPr>
            <a:r>
              <a:t>  • 改善居民生活质量</a:t>
            </a:r>
          </a:p>
          <a:p>
            <a:pPr>
              <a:spcBef>
                <a:spcPts val="1200"/>
              </a:spcBef>
              <a:defRPr sz="1800"/>
            </a:pPr>
            <a:r>
              <a:t>  • 创造新的经济增长点</a:t>
            </a:r>
          </a:p>
          <a:p>
            <a:pPr>
              <a:spcBef>
                <a:spcPts val="1200"/>
              </a:spcBef>
              <a:defRPr sz="1800"/>
            </a:pPr>
            <a:r>
              <a:t>  • 推动可持续发展目标实现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未来展望：2026年及以后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短期展望（2026-2027）：</a:t>
            </a:r>
          </a:p>
          <a:p>
            <a:pPr>
              <a:spcBef>
                <a:spcPts val="1200"/>
              </a:spcBef>
              <a:defRPr sz="1800"/>
            </a:pPr>
            <a:r>
              <a:t>  • AI应用从试点走向规模化部署</a:t>
            </a:r>
          </a:p>
          <a:p>
            <a:pPr>
              <a:spcBef>
                <a:spcPts val="1200"/>
              </a:spcBef>
              <a:defRPr sz="1800"/>
            </a:pPr>
            <a:r>
              <a:t>  • 数字孪生技术成为城市管理标配</a:t>
            </a:r>
          </a:p>
          <a:p>
            <a:pPr>
              <a:spcBef>
                <a:spcPts val="1200"/>
              </a:spcBef>
              <a:defRPr sz="1800"/>
            </a:pPr>
            <a:r>
              <a:t>  • 跨城市数据共享与协作增强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中长期展望（2028-2030）：</a:t>
            </a:r>
          </a:p>
          <a:p>
            <a:pPr>
              <a:spcBef>
                <a:spcPts val="1200"/>
              </a:spcBef>
              <a:defRPr sz="1800"/>
            </a:pPr>
            <a:r>
              <a:t>  • 全自主智能城市系统出现</a:t>
            </a:r>
          </a:p>
          <a:p>
            <a:pPr>
              <a:spcBef>
                <a:spcPts val="1200"/>
              </a:spcBef>
              <a:defRPr sz="1800"/>
            </a:pPr>
            <a:r>
              <a:t>  • 人机协同治理模式成熟</a:t>
            </a:r>
          </a:p>
          <a:p>
            <a:pPr>
              <a:spcBef>
                <a:spcPts val="1200"/>
              </a:spcBef>
              <a:defRPr sz="1800"/>
            </a:pPr>
            <a:r>
              <a:t>  • 智慧城市成为碳中和关键路径</a:t>
            </a:r>
          </a:p>
          <a:p>
            <a:pPr>
              <a:spcBef>
                <a:spcPts val="1200"/>
              </a:spcBef>
              <a:defRPr sz="1800"/>
            </a:pPr>
            <a:r>
              <a:t>  • AI驱动的城市创新生态系统形成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AI正在重塑城市的运作方式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2026年标志着智慧城市从愿景到实际影响的转折点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技术成熟度、运营经验和生态系统的完善，为未来发展奠定基础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智慧城市不仅是技术创新，更是治理模式和生活方式的变革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未来属于那些能够有效整合AI技术、以人为本的城市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/>
            </a:pPr>
            <a:r>
              <a:t>感谢您的聆听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Questions &amp; Discussion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基于2026年最新研究与行业报告</a:t>
            </a:r>
          </a:p>
          <a:p>
            <a:pPr>
              <a:spcBef>
                <a:spcPts val="1200"/>
              </a:spcBef>
              <a:defRPr sz="1800"/>
            </a:pPr>
            <a:r>
              <a:t>数据来源：IDC、Deloitte、行业分析报告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