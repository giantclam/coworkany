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2026年AI在智慧城市中的发展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人工智能驱动的城市未来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1. 智慧城市的定义和发展背景</a:t>
            </a:r>
          </a:p>
          <a:p>
            <a:pPr>
              <a:spcBef>
                <a:spcPts val="1200"/>
              </a:spcBef>
              <a:defRPr sz="1800"/>
            </a:pPr>
            <a:r>
              <a:t>2. AI在智慧城市中的主要应用场景</a:t>
            </a:r>
          </a:p>
          <a:p>
            <a:pPr>
              <a:spcBef>
                <a:spcPts val="1200"/>
              </a:spcBef>
              <a:defRPr sz="1800"/>
            </a:pPr>
            <a:r>
              <a:t>3. 2026年最新技术和趋势</a:t>
            </a:r>
          </a:p>
          <a:p>
            <a:pPr>
              <a:spcBef>
                <a:spcPts val="1200"/>
              </a:spcBef>
              <a:defRPr sz="1800"/>
            </a:pPr>
            <a:r>
              <a:t>4. 成功案例分析</a:t>
            </a:r>
          </a:p>
          <a:p>
            <a:pPr>
              <a:spcBef>
                <a:spcPts val="1200"/>
              </a:spcBef>
              <a:defRPr sz="1800"/>
            </a:pPr>
            <a:r>
              <a:t>5. 未来展望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1. 智慧城市的定义和发展背景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定义：利用信息技术、物联网、大数据、云计算、人工智能等先进技术，面向城市治理、民生服务、产业发展、生态环保等核心场景的综合解决方案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发展背景：</a:t>
            </a:r>
          </a:p>
          <a:p>
            <a:pPr>
              <a:spcBef>
                <a:spcPts val="1200"/>
              </a:spcBef>
              <a:defRPr sz="1800"/>
            </a:pPr>
            <a:r>
              <a:t>  - 全球城市化进程加速，城市管理面临复杂挑战</a:t>
            </a:r>
          </a:p>
          <a:p>
            <a:pPr>
              <a:spcBef>
                <a:spcPts val="1200"/>
              </a:spcBef>
              <a:defRPr sz="1800"/>
            </a:pPr>
            <a:r>
              <a:t>  - AI技术成熟度提升，为智慧城市提供核心驱动力</a:t>
            </a:r>
          </a:p>
          <a:p>
            <a:pPr>
              <a:spcBef>
                <a:spcPts val="1200"/>
              </a:spcBef>
              <a:defRPr sz="1800"/>
            </a:pPr>
            <a:r>
              <a:t>  - 中国智慧城市IT解决方案市场规模突破1.2万亿元</a:t>
            </a:r>
          </a:p>
          <a:p>
            <a:pPr>
              <a:spcBef>
                <a:spcPts val="1200"/>
              </a:spcBef>
              <a:defRPr sz="1800"/>
            </a:pPr>
            <a:r>
              <a:t>  - 城市全域数字化转型成为国家战略重点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2. AI在智慧城市中的主要应用场景（上）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智能交通管理</a:t>
            </a:r>
          </a:p>
          <a:p>
            <a:pPr>
              <a:spcBef>
                <a:spcPts val="1200"/>
              </a:spcBef>
              <a:defRPr sz="1800"/>
            </a:pPr>
            <a:r>
              <a:t>  - AI交通系统减少拥堵25%</a:t>
            </a:r>
          </a:p>
          <a:p>
            <a:pPr>
              <a:spcBef>
                <a:spcPts val="1200"/>
              </a:spcBef>
              <a:defRPr sz="1800"/>
            </a:pPr>
            <a:r>
              <a:t>  - 自动驾驶与智能信号灯协同</a:t>
            </a:r>
          </a:p>
          <a:p>
            <a:pPr>
              <a:spcBef>
                <a:spcPts val="1200"/>
              </a:spcBef>
              <a:defRPr sz="1800"/>
            </a:pPr>
            <a:r>
              <a:t>  - 实时路况预测与优化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智慧能源管理</a:t>
            </a:r>
          </a:p>
          <a:p>
            <a:pPr>
              <a:spcBef>
                <a:spcPts val="1200"/>
              </a:spcBef>
              <a:defRPr sz="1800"/>
            </a:pPr>
            <a:r>
              <a:t>  - 虚拟电厂提供100MW备用电力</a:t>
            </a:r>
          </a:p>
          <a:p>
            <a:pPr>
              <a:spcBef>
                <a:spcPts val="1200"/>
              </a:spcBef>
              <a:defRPr sz="1800"/>
            </a:pPr>
            <a:r>
              <a:t>  - AI优化能源分配，降低消耗</a:t>
            </a:r>
          </a:p>
          <a:p>
            <a:pPr>
              <a:spcBef>
                <a:spcPts val="1200"/>
              </a:spcBef>
              <a:defRPr sz="1800"/>
            </a:pPr>
            <a:r>
              <a:t>  - 智能电网实时监控与调度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2. AI在智慧城市中的主要应用场景（下）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城市治理与公共安全</a:t>
            </a:r>
          </a:p>
          <a:p>
            <a:pPr>
              <a:spcBef>
                <a:spcPts val="1200"/>
              </a:spcBef>
              <a:defRPr sz="1800"/>
            </a:pPr>
            <a:r>
              <a:t>  - AI视觉监控与异常检测</a:t>
            </a:r>
          </a:p>
          <a:p>
            <a:pPr>
              <a:spcBef>
                <a:spcPts val="1200"/>
              </a:spcBef>
              <a:defRPr sz="1800"/>
            </a:pPr>
            <a:r>
              <a:t>  - 智能应急响应系统</a:t>
            </a:r>
          </a:p>
          <a:p>
            <a:pPr>
              <a:spcBef>
                <a:spcPts val="1200"/>
              </a:spcBef>
              <a:defRPr sz="1800"/>
            </a:pPr>
            <a:r>
              <a:t>  - 公共数据流通与利用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智慧民生服务</a:t>
            </a:r>
          </a:p>
          <a:p>
            <a:pPr>
              <a:spcBef>
                <a:spcPts val="1200"/>
              </a:spcBef>
              <a:defRPr sz="1800"/>
            </a:pPr>
            <a:r>
              <a:t>  - IoT废物管理网络减少卡车运行90%</a:t>
            </a:r>
          </a:p>
          <a:p>
            <a:pPr>
              <a:spcBef>
                <a:spcPts val="1200"/>
              </a:spcBef>
              <a:defRPr sz="1800"/>
            </a:pPr>
            <a:r>
              <a:t>  - AI政务服务（公文处理、审核自动化）</a:t>
            </a:r>
          </a:p>
          <a:p>
            <a:pPr>
              <a:spcBef>
                <a:spcPts val="1200"/>
              </a:spcBef>
              <a:defRPr sz="1800"/>
            </a:pPr>
            <a:r>
              <a:t>  - 智能医疗与健康监测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3. 2026年最新技术和趋势（上）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Agentic AI（智能体AI）</a:t>
            </a:r>
          </a:p>
          <a:p>
            <a:pPr>
              <a:spcBef>
                <a:spcPts val="1200"/>
              </a:spcBef>
              <a:defRPr sz="1800"/>
            </a:pPr>
            <a:r>
              <a:t>  - 到2027年，中国70%的城市将部署AI智能体</a:t>
            </a:r>
          </a:p>
          <a:p>
            <a:pPr>
              <a:spcBef>
                <a:spcPts val="1200"/>
              </a:spcBef>
              <a:defRPr sz="1800"/>
            </a:pPr>
            <a:r>
              <a:t>  - 协同端到端工作流程，减轻工作量</a:t>
            </a:r>
          </a:p>
          <a:p>
            <a:pPr>
              <a:spcBef>
                <a:spcPts val="1200"/>
              </a:spcBef>
              <a:defRPr sz="1800"/>
            </a:pPr>
            <a:r>
              <a:t>  - 自主决策与跨系统协作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生成式AI（GenAI）</a:t>
            </a:r>
          </a:p>
          <a:p>
            <a:pPr>
              <a:spcBef>
                <a:spcPts val="1200"/>
              </a:spcBef>
              <a:defRPr sz="1800"/>
            </a:pPr>
            <a:r>
              <a:t>  - 解锁数十年隐藏的政府数据</a:t>
            </a:r>
          </a:p>
          <a:p>
            <a:pPr>
              <a:spcBef>
                <a:spcPts val="1200"/>
              </a:spcBef>
              <a:defRPr sz="1800"/>
            </a:pPr>
            <a:r>
              <a:t>  - 自动化文档处理与知识提取</a:t>
            </a:r>
          </a:p>
          <a:p>
            <a:pPr>
              <a:spcBef>
                <a:spcPts val="1200"/>
              </a:spcBef>
              <a:defRPr sz="1800"/>
            </a:pPr>
            <a:r>
              <a:t>  - 精细调优的大语言模型（LLM）应用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3. 2026年最新技术和趋势（下）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边缘智能与IoT融合</a:t>
            </a:r>
          </a:p>
          <a:p>
            <a:pPr>
              <a:spcBef>
                <a:spcPts val="1200"/>
              </a:spcBef>
              <a:defRPr sz="1800"/>
            </a:pPr>
            <a:r>
              <a:t>  - 边缘计算降低延迟，提升响应速度</a:t>
            </a:r>
          </a:p>
          <a:p>
            <a:pPr>
              <a:spcBef>
                <a:spcPts val="1200"/>
              </a:spcBef>
              <a:defRPr sz="1800"/>
            </a:pPr>
            <a:r>
              <a:t>  - IoT设备与AI模型本地化部署</a:t>
            </a:r>
          </a:p>
          <a:p>
            <a:pPr>
              <a:spcBef>
                <a:spcPts val="1200"/>
              </a:spcBef>
              <a:defRPr sz="1800"/>
            </a:pPr>
            <a:r>
              <a:t>  - 5G网络支撑海量设备连接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数字孪生城市</a:t>
            </a:r>
          </a:p>
          <a:p>
            <a:pPr>
              <a:spcBef>
                <a:spcPts val="1200"/>
              </a:spcBef>
              <a:defRPr sz="1800"/>
            </a:pPr>
            <a:r>
              <a:t>  - 虚拟城市模型实时同步物理世界</a:t>
            </a:r>
          </a:p>
          <a:p>
            <a:pPr>
              <a:spcBef>
                <a:spcPts val="1200"/>
              </a:spcBef>
              <a:defRPr sz="1800"/>
            </a:pPr>
            <a:r>
              <a:t>  - 在建设前测试城市决策</a:t>
            </a:r>
          </a:p>
          <a:p>
            <a:pPr>
              <a:spcBef>
                <a:spcPts val="1200"/>
              </a:spcBef>
              <a:defRPr sz="1800"/>
            </a:pPr>
            <a:r>
              <a:t>  - 预测性维护与资源优化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4. 成功案例分析（上）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案例1：中国城市AI智能体部署</a:t>
            </a:r>
          </a:p>
          <a:p>
            <a:pPr>
              <a:spcBef>
                <a:spcPts val="1200"/>
              </a:spcBef>
              <a:defRPr sz="1800"/>
            </a:pPr>
            <a:r>
              <a:t>  - 覆盖范围：预计2027年70%的中国城市</a:t>
            </a:r>
          </a:p>
          <a:p>
            <a:pPr>
              <a:spcBef>
                <a:spcPts val="1200"/>
              </a:spcBef>
              <a:defRPr sz="1800"/>
            </a:pPr>
            <a:r>
              <a:t>  - 应用场景：交通调度、能源管理、应急响应</a:t>
            </a:r>
          </a:p>
          <a:p>
            <a:pPr>
              <a:spcBef>
                <a:spcPts val="1200"/>
              </a:spcBef>
              <a:defRPr sz="1800"/>
            </a:pPr>
            <a:r>
              <a:t>  - 成效：工作流程自动化，效率提升30%+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案例2：广州天河区智慧政务</a:t>
            </a:r>
          </a:p>
          <a:p>
            <a:pPr>
              <a:spcBef>
                <a:spcPts val="1200"/>
              </a:spcBef>
              <a:defRPr sz="1800"/>
            </a:pPr>
            <a:r>
              <a:t>  - 京华信息智慧政务入选AI场景应用案例集</a:t>
            </a:r>
          </a:p>
          <a:p>
            <a:pPr>
              <a:spcBef>
                <a:spcPts val="1200"/>
              </a:spcBef>
              <a:defRPr sz="1800"/>
            </a:pPr>
            <a:r>
              <a:t>  - AI技术应用于公文处理、审核、项目管理</a:t>
            </a:r>
          </a:p>
          <a:p>
            <a:pPr>
              <a:spcBef>
                <a:spcPts val="1200"/>
              </a:spcBef>
              <a:defRPr sz="1800"/>
            </a:pPr>
            <a:r>
              <a:t>  - 交通热线服务智能化升级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4. 成功案例分析（下）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案例3：高雄智慧城市展（2026年3月）</a:t>
            </a:r>
          </a:p>
          <a:p>
            <a:pPr>
              <a:spcBef>
                <a:spcPts val="1200"/>
              </a:spcBef>
              <a:defRPr sz="1800"/>
            </a:pPr>
            <a:r>
              <a:t>  - 展示5年智慧城市建设成果</a:t>
            </a:r>
          </a:p>
          <a:p>
            <a:pPr>
              <a:spcBef>
                <a:spcPts val="1200"/>
              </a:spcBef>
              <a:defRPr sz="1800"/>
            </a:pPr>
            <a:r>
              <a:t>  - AI应用覆盖城市生活各面向</a:t>
            </a:r>
          </a:p>
          <a:p>
            <a:pPr>
              <a:spcBef>
                <a:spcPts val="1200"/>
              </a:spcBef>
              <a:defRPr sz="1800"/>
            </a:pPr>
            <a:r>
              <a:t>  - 深入生活场景的AI成果展示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案例4：Sunnyvale（硅谷核心城市）</a:t>
            </a:r>
          </a:p>
          <a:p>
            <a:pPr>
              <a:spcBef>
                <a:spcPts val="1200"/>
              </a:spcBef>
              <a:defRPr sz="1800"/>
            </a:pPr>
            <a:r>
              <a:t>  - 市长Larry Klein：AI正在影响所有城市</a:t>
            </a:r>
          </a:p>
          <a:p>
            <a:pPr>
              <a:spcBef>
                <a:spcPts val="1200"/>
              </a:spcBef>
              <a:defRPr sz="1800"/>
            </a:pPr>
            <a:r>
              <a:t>  - 智能许可审批与城市规划</a:t>
            </a:r>
          </a:p>
          <a:p>
            <a:pPr>
              <a:spcBef>
                <a:spcPts val="1200"/>
              </a:spcBef>
              <a:defRPr sz="1800"/>
            </a:pPr>
            <a:r>
              <a:t>  - 公民服务与资产管理智能化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5. 未来展望（上）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技术演进方向</a:t>
            </a:r>
          </a:p>
          <a:p>
            <a:pPr>
              <a:spcBef>
                <a:spcPts val="1200"/>
              </a:spcBef>
              <a:defRPr sz="1800"/>
            </a:pPr>
            <a:r>
              <a:t>  - AI从辅助工具向自主智能体演进</a:t>
            </a:r>
          </a:p>
          <a:p>
            <a:pPr>
              <a:spcBef>
                <a:spcPts val="1200"/>
              </a:spcBef>
              <a:defRPr sz="1800"/>
            </a:pPr>
            <a:r>
              <a:t>  - 多模态AI融合（视觉、语音、文本）</a:t>
            </a:r>
          </a:p>
          <a:p>
            <a:pPr>
              <a:spcBef>
                <a:spcPts val="1200"/>
              </a:spcBef>
              <a:defRPr sz="1800"/>
            </a:pPr>
            <a:r>
              <a:t>  - 具身智能在城市场景的广泛应用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应用深化趋势</a:t>
            </a:r>
          </a:p>
          <a:p>
            <a:pPr>
              <a:spcBef>
                <a:spcPts val="1200"/>
              </a:spcBef>
              <a:defRPr sz="1800"/>
            </a:pPr>
            <a:r>
              <a:t>  - 从单点应用向全域智能转变</a:t>
            </a:r>
          </a:p>
          <a:p>
            <a:pPr>
              <a:spcBef>
                <a:spcPts val="1200"/>
              </a:spcBef>
              <a:defRPr sz="1800"/>
            </a:pPr>
            <a:r>
              <a:t>  - 跨部门数据打通与协同治理</a:t>
            </a:r>
          </a:p>
          <a:p>
            <a:pPr>
              <a:spcBef>
                <a:spcPts val="1200"/>
              </a:spcBef>
              <a:defRPr sz="1800"/>
            </a:pPr>
            <a:r>
              <a:t>  - AI模型行业化、场景化定制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5. 未来展望（下）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/>
            </a:pPr>
            <a:r>
              <a:t>• 挑战与机遇</a:t>
            </a:r>
          </a:p>
          <a:p>
            <a:pPr>
              <a:spcBef>
                <a:spcPts val="1200"/>
              </a:spcBef>
              <a:defRPr sz="1800"/>
            </a:pPr>
            <a:r>
              <a:t>  - 隐私保护与数据安全</a:t>
            </a:r>
          </a:p>
          <a:p>
            <a:pPr>
              <a:spcBef>
                <a:spcPts val="1200"/>
              </a:spcBef>
              <a:defRPr sz="1800"/>
            </a:pPr>
            <a:r>
              <a:t>  - 算法公平性与伦理问题</a:t>
            </a:r>
          </a:p>
          <a:p>
            <a:pPr>
              <a:spcBef>
                <a:spcPts val="1200"/>
              </a:spcBef>
              <a:defRPr sz="1800"/>
            </a:pPr>
            <a:r>
              <a:t>  - 网络安全威胁应对</a:t>
            </a:r>
          </a:p>
          <a:p>
            <a:pPr>
              <a:spcBef>
                <a:spcPts val="1200"/>
              </a:spcBef>
              <a:defRPr sz="1800"/>
            </a:pPr>
            <a:r>
              <a:t>  - 数字鸿沟与包容性发展</a:t>
            </a:r>
          </a:p>
          <a:p>
            <a:pPr>
              <a:spcBef>
                <a:spcPts val="1200"/>
              </a:spcBef>
              <a:defRPr sz="1800"/>
            </a:pPr>
          </a:p>
          <a:p>
            <a:pPr>
              <a:spcBef>
                <a:spcPts val="1200"/>
              </a:spcBef>
              <a:defRPr sz="1800"/>
            </a:pPr>
            <a:r>
              <a:t>• 发展目标</a:t>
            </a:r>
          </a:p>
          <a:p>
            <a:pPr>
              <a:spcBef>
                <a:spcPts val="1200"/>
              </a:spcBef>
              <a:defRPr sz="1800"/>
            </a:pPr>
            <a:r>
              <a:t>  - 2027年：65%全球城市部署AI智能体</a:t>
            </a:r>
          </a:p>
          <a:p>
            <a:pPr>
              <a:spcBef>
                <a:spcPts val="1200"/>
              </a:spcBef>
              <a:defRPr sz="1800"/>
            </a:pPr>
            <a:r>
              <a:t>  - 中国AI核心产业规模持续增长</a:t>
            </a:r>
          </a:p>
          <a:p>
            <a:pPr>
              <a:spcBef>
                <a:spcPts val="1200"/>
              </a:spcBef>
              <a:defRPr sz="1800"/>
            </a:pPr>
            <a:r>
              <a:t>  - 智慧城市成为数字中国建设综合载体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谢谢观看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AI赋能，智慧未来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