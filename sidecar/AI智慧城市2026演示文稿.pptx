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2026年AI在智慧城市中的发展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专业演示文稿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第一部分：智慧城市的定义和发展背景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智慧城市定义</a:t>
            </a:r>
          </a:p>
          <a:p>
            <a:pPr lvl="0"/>
            <a:r>
              <a:rPr b="1"/>
              <a:t>核心概念</a:t>
            </a:r>
            <a:r>
              <a:rPr/>
              <a:t>：利用物联网(IoT)、人工智能(AI)、大数据等先进技术，提升城市管理效率和居民生活质量的城市发展模式</a:t>
            </a:r>
          </a:p>
          <a:p>
            <a:pPr lvl="0"/>
            <a:r>
              <a:rPr b="1"/>
              <a:t>关键要素</a:t>
            </a:r>
            <a:r>
              <a:rPr/>
              <a:t>：</a:t>
            </a:r>
          </a:p>
          <a:p>
            <a:pPr lvl="1"/>
            <a:r>
              <a:rPr/>
              <a:t>智能基础设施</a:t>
            </a:r>
          </a:p>
          <a:p>
            <a:pPr lvl="1"/>
            <a:r>
              <a:rPr/>
              <a:t>数据驱动决策</a:t>
            </a:r>
          </a:p>
          <a:p>
            <a:pPr lvl="1"/>
            <a:r>
              <a:rPr/>
              <a:t>互联互通的城市系统</a:t>
            </a:r>
          </a:p>
          <a:p>
            <a:pPr lvl="1"/>
            <a:r>
              <a:rPr/>
              <a:t>可持续发展导向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发展背景</a:t>
            </a:r>
          </a:p>
          <a:p>
            <a:pPr lvl="0"/>
            <a:r>
              <a:rPr b="1"/>
              <a:t>全球城市化趋势</a:t>
            </a:r>
            <a:r>
              <a:rPr/>
              <a:t>：2026年全球城市人口占比超过60%</a:t>
            </a:r>
          </a:p>
          <a:p>
            <a:pPr lvl="0"/>
            <a:r>
              <a:rPr b="1"/>
              <a:t>技术成熟度提升</a:t>
            </a:r>
            <a:r>
              <a:rPr/>
              <a:t>：AI技术从概念验证走向大规模运营部署</a:t>
            </a:r>
          </a:p>
          <a:p>
            <a:pPr lvl="0"/>
            <a:r>
              <a:rPr b="1"/>
              <a:t>市场快速增长</a:t>
            </a:r>
            <a:r>
              <a:rPr/>
              <a:t>：AI智慧城市应用市场近年来呈现快速增长态势</a:t>
            </a:r>
          </a:p>
          <a:p>
            <a:pPr lvl="0"/>
            <a:r>
              <a:rPr b="1"/>
              <a:t>政策推动</a:t>
            </a:r>
            <a:r>
              <a:rPr/>
              <a:t>：各国政府积极推动可持续城市发展战略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第二部分：AI在智慧城市中的主要应用场景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智能交通管理</a:t>
            </a:r>
          </a:p>
          <a:p>
            <a:pPr lvl="0"/>
            <a:r>
              <a:rPr b="1"/>
              <a:t>实时交通监控与优化</a:t>
            </a:r>
          </a:p>
          <a:p>
            <a:pPr lvl="1"/>
            <a:r>
              <a:rPr/>
              <a:t>AI驱动的交通流量预测</a:t>
            </a:r>
          </a:p>
          <a:p>
            <a:pPr lvl="1"/>
            <a:r>
              <a:rPr/>
              <a:t>智能信号灯控制系统</a:t>
            </a:r>
          </a:p>
          <a:p>
            <a:pPr lvl="1"/>
            <a:r>
              <a:rPr/>
              <a:t>拥堵预警和路线规划</a:t>
            </a:r>
          </a:p>
          <a:p>
            <a:pPr lvl="0"/>
            <a:r>
              <a:rPr b="1"/>
              <a:t>自动驾驶技术</a:t>
            </a:r>
          </a:p>
          <a:p>
            <a:pPr lvl="1"/>
            <a:r>
              <a:rPr/>
              <a:t>基于基础模型的新一代自动驾驶系统</a:t>
            </a:r>
          </a:p>
          <a:p>
            <a:pPr lvl="1"/>
            <a:r>
              <a:rPr/>
              <a:t>多传感器融合（视频、雷达、激光雷达）</a:t>
            </a:r>
          </a:p>
          <a:p>
            <a:pPr lvl="1"/>
            <a:r>
              <a:rPr/>
              <a:t>实际案例：深圳等城市的自动驾驶测试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城市安全与应急管理</a:t>
            </a:r>
          </a:p>
          <a:p>
            <a:pPr lvl="0"/>
            <a:r>
              <a:rPr/>
              <a:t>智能视频监控和异常检测</a:t>
            </a:r>
          </a:p>
          <a:p>
            <a:pPr lvl="0"/>
            <a:r>
              <a:rPr/>
              <a:t>预测性维护系统</a:t>
            </a:r>
          </a:p>
          <a:p>
            <a:pPr lvl="0"/>
            <a:r>
              <a:rPr/>
              <a:t>应急响应优化</a:t>
            </a:r>
          </a:p>
          <a:p>
            <a:pPr lvl="0"/>
            <a:r>
              <a:rPr/>
              <a:t>公共安全事件预警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能源与环境管理</a:t>
            </a:r>
          </a:p>
          <a:p>
            <a:pPr lvl="0"/>
            <a:r>
              <a:rPr b="1"/>
              <a:t>智能电网</a:t>
            </a:r>
            <a:r>
              <a:rPr/>
              <a:t>：应对AI数据中心激增的电力需求</a:t>
            </a:r>
          </a:p>
          <a:p>
            <a:pPr lvl="0"/>
            <a:r>
              <a:rPr b="1"/>
              <a:t>长时储能系统</a:t>
            </a:r>
            <a:r>
              <a:rPr/>
              <a:t>：支持可持续能源供应</a:t>
            </a:r>
          </a:p>
          <a:p>
            <a:pPr lvl="0"/>
            <a:r>
              <a:rPr/>
              <a:t>环境监测与污染预警</a:t>
            </a:r>
          </a:p>
          <a:p>
            <a:pPr lvl="0"/>
            <a:r>
              <a:rPr/>
              <a:t>能源消耗优化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城市服务数字化</a:t>
            </a:r>
          </a:p>
          <a:p>
            <a:pPr lvl="0"/>
            <a:r>
              <a:rPr b="1"/>
              <a:t>数字采购和工作流自动化</a:t>
            </a:r>
          </a:p>
          <a:p>
            <a:pPr lvl="0"/>
            <a:r>
              <a:rPr b="1"/>
              <a:t>GIS地理信息系统集成</a:t>
            </a:r>
          </a:p>
          <a:p>
            <a:pPr lvl="0"/>
            <a:r>
              <a:rPr/>
              <a:t>智能政务服务</a:t>
            </a:r>
          </a:p>
          <a:p>
            <a:pPr lvl="0"/>
            <a:r>
              <a:rPr/>
              <a:t>公共设施智能管理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数据集成与决策支持</a:t>
            </a:r>
          </a:p>
          <a:p>
            <a:pPr lvl="0"/>
            <a:r>
              <a:rPr/>
              <a:t>跨部门数据整合平台</a:t>
            </a:r>
          </a:p>
          <a:p>
            <a:pPr lvl="0"/>
            <a:r>
              <a:rPr/>
              <a:t>实时城市运营监控</a:t>
            </a:r>
          </a:p>
          <a:p>
            <a:pPr lvl="0"/>
            <a:r>
              <a:rPr/>
              <a:t>AI辅助城市规划</a:t>
            </a:r>
          </a:p>
          <a:p>
            <a:pPr lvl="0"/>
            <a:r>
              <a:rPr/>
              <a:t>预测性分析和决策支持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第三部分：2026年最新技术和趋势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核心技术趋势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从概念到实际影响</a:t>
            </a:r>
          </a:p>
          <a:p>
            <a:pPr lvl="0"/>
            <a:r>
              <a:rPr b="1"/>
              <a:t>运营成熟度显著提升</a:t>
            </a:r>
            <a:r>
              <a:rPr/>
              <a:t>：项目从试点走向全面部署</a:t>
            </a:r>
          </a:p>
          <a:p>
            <a:pPr lvl="0"/>
            <a:r>
              <a:rPr b="1"/>
              <a:t>实用技术广泛采用</a:t>
            </a:r>
            <a:r>
              <a:rPr/>
              <a:t>：数字化工作流、实时监控系统成为标配</a:t>
            </a:r>
          </a:p>
          <a:p>
            <a:pPr lvl="0"/>
            <a:r>
              <a:rPr/>
              <a:t>从”愿景”到”实际影响”的转变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AI规模化部署</a:t>
            </a:r>
          </a:p>
          <a:p>
            <a:pPr lvl="0"/>
            <a:r>
              <a:rPr b="1"/>
              <a:t>跨城市基础设施的AI扩展</a:t>
            </a:r>
          </a:p>
          <a:p>
            <a:pPr lvl="1"/>
            <a:r>
              <a:rPr/>
              <a:t>安全性优先的规模化策略</a:t>
            </a:r>
          </a:p>
          <a:p>
            <a:pPr lvl="1"/>
            <a:r>
              <a:rPr/>
              <a:t>边缘计算与云计算协同</a:t>
            </a:r>
          </a:p>
          <a:p>
            <a:pPr lvl="1"/>
            <a:r>
              <a:rPr/>
              <a:t>统一的AI治理框架</a:t>
            </a:r>
          </a:p>
          <a:p>
            <a:pPr lvl="0"/>
            <a:r>
              <a:rPr b="1"/>
              <a:t>基础模型应用</a:t>
            </a:r>
            <a:r>
              <a:rPr/>
              <a:t>：通用AI模型在城市场景中的定制化应用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开源AI生态</a:t>
            </a:r>
          </a:p>
          <a:p>
            <a:pPr lvl="0"/>
            <a:r>
              <a:rPr/>
              <a:t>中国开源AI模型在数据收集方面的领先优势</a:t>
            </a:r>
          </a:p>
          <a:p>
            <a:pPr lvl="0"/>
            <a:r>
              <a:rPr/>
              <a:t>低成本AI解决方案推动普及</a:t>
            </a:r>
          </a:p>
          <a:p>
            <a:pPr lvl="0"/>
            <a:r>
              <a:rPr/>
              <a:t>物理AI（Physical AI）的兴起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基础设施挑战</a:t>
            </a:r>
          </a:p>
          <a:p>
            <a:pPr lvl="0"/>
            <a:r>
              <a:rPr b="1"/>
              <a:t>资源约束</a:t>
            </a:r>
            <a:r>
              <a:rPr/>
              <a:t>：劳动力、铜、水资源等基础资源的供应压力</a:t>
            </a:r>
          </a:p>
          <a:p>
            <a:pPr lvl="0"/>
            <a:r>
              <a:rPr b="1"/>
              <a:t>能源需求</a:t>
            </a:r>
            <a:r>
              <a:rPr/>
              <a:t>：AI数据中心带来的电力需求激增</a:t>
            </a:r>
          </a:p>
          <a:p>
            <a:pPr lvl="0"/>
            <a:r>
              <a:rPr b="1"/>
              <a:t>长时储能</a:t>
            </a:r>
            <a:r>
              <a:rPr/>
              <a:t>：新型储能技术的部署加速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技术创新亮点</a:t>
            </a:r>
          </a:p>
          <a:p>
            <a:pPr lvl="0"/>
            <a:r>
              <a:rPr b="1"/>
              <a:t>城市大脑</a:t>
            </a:r>
            <a:r>
              <a:rPr/>
              <a:t>：集成化的城市AI管理平台</a:t>
            </a:r>
          </a:p>
          <a:p>
            <a:pPr lvl="0"/>
            <a:r>
              <a:rPr b="1"/>
              <a:t>数字孪生</a:t>
            </a:r>
            <a:r>
              <a:rPr/>
              <a:t>：城市级虚拟仿真系统</a:t>
            </a:r>
          </a:p>
          <a:p>
            <a:pPr lvl="0"/>
            <a:r>
              <a:rPr b="1"/>
              <a:t>边缘智能</a:t>
            </a:r>
            <a:r>
              <a:rPr/>
              <a:t>：分布式AI计算架构</a:t>
            </a:r>
          </a:p>
          <a:p>
            <a:pPr lvl="0"/>
            <a:r>
              <a:rPr b="1"/>
              <a:t>联邦学习</a:t>
            </a:r>
            <a:r>
              <a:rPr/>
              <a:t>：保护隐私的协同AI训练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第四部分：成功案例分析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案例1：深圳 - 自动驾驶先锋城市</a:t>
            </a:r>
          </a:p>
          <a:p>
            <a:pPr lvl="0" indent="0" marL="0">
              <a:buNone/>
            </a:pPr>
            <a:r>
              <a:rPr b="1"/>
              <a:t>项目概况</a:t>
            </a:r>
            <a:r>
              <a:rPr/>
              <a:t> - 新一代自动驾驶系统测试与部署 - 采用基础AI模型替代传统模块化方法 - 实现复杂城市环境下的自主导航</a:t>
            </a:r>
          </a:p>
          <a:p>
            <a:pPr lvl="0" indent="0" marL="0">
              <a:buNone/>
            </a:pPr>
            <a:r>
              <a:rPr b="1"/>
              <a:t>关键成果</a:t>
            </a:r>
            <a:r>
              <a:rPr/>
              <a:t> - 技术突破：AI模型可超越人类驾驶员表现 - 商业化进展：计划在北京车展发布 - 产业影响：推动智能交通产业升级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案例2：全球智慧城市奖项项目（2026）</a:t>
            </a:r>
          </a:p>
          <a:p>
            <a:pPr lvl="0" indent="0" marL="0">
              <a:buNone/>
            </a:pPr>
            <a:r>
              <a:rPr b="1"/>
              <a:t>特点</a:t>
            </a:r>
            <a:r>
              <a:rPr/>
              <a:t> - 从愿景到实际影响的转变 - 高度运营成熟度 - 日常运营中的技术应用</a:t>
            </a:r>
          </a:p>
          <a:p>
            <a:pPr lvl="0" indent="0" marL="0">
              <a:buNone/>
            </a:pPr>
            <a:r>
              <a:rPr b="1"/>
              <a:t>应用领域</a:t>
            </a:r>
            <a:r>
              <a:rPr/>
              <a:t> - 数字采购系统 - 工作流自动化 - GIS数据集成 - 实时监控网络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案例3：台北智慧城市峰会展示项目</a:t>
            </a:r>
          </a:p>
          <a:p>
            <a:pPr lvl="0" indent="0" marL="0">
              <a:buNone/>
            </a:pPr>
            <a:r>
              <a:rPr b="1"/>
              <a:t>主题</a:t>
            </a:r>
            <a:r>
              <a:rPr/>
              <a:t>：AI在城市基础设施中的安全规模化 </a:t>
            </a:r>
            <a:r>
              <a:rPr b="1"/>
              <a:t>关键洞察</a:t>
            </a:r>
            <a:r>
              <a:rPr/>
              <a:t> - 跨基础设施的AI部署策略 - 安全性和可扩展性平衡 - 行业交流与最佳实践分享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案例4：能源管理创新</a:t>
            </a:r>
          </a:p>
          <a:p>
            <a:pPr lvl="0" indent="0" marL="0">
              <a:buNone/>
            </a:pPr>
            <a:r>
              <a:rPr b="1"/>
              <a:t>背景</a:t>
            </a:r>
            <a:r>
              <a:rPr/>
              <a:t>：AI数据中心需求推动 </a:t>
            </a:r>
            <a:r>
              <a:rPr b="1"/>
              <a:t>解决方案</a:t>
            </a:r>
            <a:r>
              <a:rPr/>
              <a:t> - 长时储能系统部署 - 智能电网优化 - 可再生能源整合</a:t>
            </a:r>
          </a:p>
          <a:p>
            <a:pPr lvl="0" indent="0" marL="0">
              <a:buNone/>
            </a:pPr>
            <a:r>
              <a:rPr b="1"/>
              <a:t>成效</a:t>
            </a:r>
            <a:r>
              <a:rPr/>
              <a:t> - 提升电网容量利用率 - 支持AI基础设施扩展 - 降低碳排放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第五部分：未来展望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短期展望（2026-2027）</a:t>
            </a:r>
          </a:p>
          <a:p>
            <a:pPr lvl="0"/>
            <a:r>
              <a:rPr b="1"/>
              <a:t>技术普及</a:t>
            </a:r>
            <a:r>
              <a:rPr/>
              <a:t>：AI智慧城市解决方案从一线城市向二三线城市扩展</a:t>
            </a:r>
          </a:p>
          <a:p>
            <a:pPr lvl="0"/>
            <a:r>
              <a:rPr b="1"/>
              <a:t>标准化</a:t>
            </a:r>
            <a:r>
              <a:rPr/>
              <a:t>：行业标准和互操作性框架逐步建立</a:t>
            </a:r>
          </a:p>
          <a:p>
            <a:pPr lvl="0"/>
            <a:r>
              <a:rPr b="1"/>
              <a:t>成本下降</a:t>
            </a:r>
            <a:r>
              <a:rPr/>
              <a:t>：开源AI和规模化效应降低部署成本</a:t>
            </a:r>
          </a:p>
          <a:p>
            <a:pPr lvl="0"/>
            <a:r>
              <a:rPr b="1"/>
              <a:t>应用深化</a:t>
            </a:r>
            <a:r>
              <a:rPr/>
              <a:t>：从单点应用向系统集成演进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中期展望（2027-2030）</a:t>
            </a:r>
          </a:p>
          <a:p>
            <a:pPr lvl="0"/>
            <a:r>
              <a:rPr b="1"/>
              <a:t>城市大脑成熟</a:t>
            </a:r>
            <a:r>
              <a:rPr/>
              <a:t>：集成化AI管理平台成为城市标配</a:t>
            </a:r>
          </a:p>
          <a:p>
            <a:pPr lvl="0"/>
            <a:r>
              <a:rPr b="1"/>
              <a:t>自动化升级</a:t>
            </a:r>
            <a:r>
              <a:rPr/>
              <a:t>：更多城市服务实现智能化和自动化</a:t>
            </a:r>
          </a:p>
          <a:p>
            <a:pPr lvl="0"/>
            <a:r>
              <a:rPr b="1"/>
              <a:t>数据价值释放</a:t>
            </a:r>
            <a:r>
              <a:rPr/>
              <a:t>：城市数据资产化和价值变现</a:t>
            </a:r>
          </a:p>
          <a:p>
            <a:pPr lvl="0"/>
            <a:r>
              <a:rPr b="1"/>
              <a:t>跨城市协同</a:t>
            </a:r>
            <a:r>
              <a:rPr/>
              <a:t>：城市间数据共享和协同治理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长期愿景（2030+）</a:t>
            </a:r>
          </a:p>
          <a:p>
            <a:pPr lvl="0"/>
            <a:r>
              <a:rPr b="1"/>
              <a:t>全面智能化</a:t>
            </a:r>
            <a:r>
              <a:rPr/>
              <a:t>：AI深度融入城市运营的各个环节</a:t>
            </a:r>
          </a:p>
          <a:p>
            <a:pPr lvl="0"/>
            <a:r>
              <a:rPr b="1"/>
              <a:t>自适应城市</a:t>
            </a:r>
            <a:r>
              <a:rPr/>
              <a:t>：城市系统具备自我学习和优化能力</a:t>
            </a:r>
          </a:p>
          <a:p>
            <a:pPr lvl="0"/>
            <a:r>
              <a:rPr b="1"/>
              <a:t>人机协同</a:t>
            </a:r>
            <a:r>
              <a:rPr/>
              <a:t>：AI辅助而非替代人类决策</a:t>
            </a:r>
          </a:p>
          <a:p>
            <a:pPr lvl="0"/>
            <a:r>
              <a:rPr b="1"/>
              <a:t>可持续发展</a:t>
            </a:r>
            <a:r>
              <a:rPr/>
              <a:t>：技术驱动的绿色低碳城市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关键挑战与应对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挑战1：资源约束</a:t>
            </a:r>
          </a:p>
          <a:p>
            <a:pPr lvl="0"/>
            <a:r>
              <a:rPr b="1"/>
              <a:t>问题</a:t>
            </a:r>
            <a:r>
              <a:rPr/>
              <a:t>：AI基础设施建设面临资源瓶颈（能源、材料、人才）</a:t>
            </a:r>
          </a:p>
          <a:p>
            <a:pPr lvl="0"/>
            <a:r>
              <a:rPr b="1"/>
              <a:t>应对</a:t>
            </a:r>
            <a:r>
              <a:rPr/>
              <a:t>：</a:t>
            </a:r>
          </a:p>
          <a:p>
            <a:pPr lvl="1"/>
            <a:r>
              <a:rPr/>
              <a:t>发展高效能AI算法</a:t>
            </a:r>
          </a:p>
          <a:p>
            <a:pPr lvl="1"/>
            <a:r>
              <a:rPr/>
              <a:t>推动可再生能源应用</a:t>
            </a:r>
          </a:p>
          <a:p>
            <a:pPr lvl="1"/>
            <a:r>
              <a:rPr/>
              <a:t>加强人才培养体系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挑战2：数据安全与隐私</a:t>
            </a:r>
          </a:p>
          <a:p>
            <a:pPr lvl="0"/>
            <a:r>
              <a:rPr b="1"/>
              <a:t>问题</a:t>
            </a:r>
            <a:r>
              <a:rPr/>
              <a:t>：大规模数据收集和应用带来隐私风险</a:t>
            </a:r>
          </a:p>
          <a:p>
            <a:pPr lvl="0"/>
            <a:r>
              <a:rPr b="1"/>
              <a:t>应对</a:t>
            </a:r>
            <a:r>
              <a:rPr/>
              <a:t>：</a:t>
            </a:r>
          </a:p>
          <a:p>
            <a:pPr lvl="1"/>
            <a:r>
              <a:rPr/>
              <a:t>联邦学习等隐私保护技术</a:t>
            </a:r>
          </a:p>
          <a:p>
            <a:pPr lvl="1"/>
            <a:r>
              <a:rPr/>
              <a:t>完善数据治理法规</a:t>
            </a:r>
          </a:p>
          <a:p>
            <a:pPr lvl="1"/>
            <a:r>
              <a:rPr/>
              <a:t>透明化AI决策过程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挑战3：技术鸿沟</a:t>
            </a:r>
          </a:p>
          <a:p>
            <a:pPr lvl="0"/>
            <a:r>
              <a:rPr b="1"/>
              <a:t>问题</a:t>
            </a:r>
            <a:r>
              <a:rPr/>
              <a:t>：不同地区和城市的技术能力差异</a:t>
            </a:r>
          </a:p>
          <a:p>
            <a:pPr lvl="0"/>
            <a:r>
              <a:rPr b="1"/>
              <a:t>应对</a:t>
            </a:r>
            <a:r>
              <a:rPr/>
              <a:t>：</a:t>
            </a:r>
          </a:p>
          <a:p>
            <a:pPr lvl="1"/>
            <a:r>
              <a:rPr/>
              <a:t>开源技术降低门槛</a:t>
            </a:r>
          </a:p>
          <a:p>
            <a:pPr lvl="1"/>
            <a:r>
              <a:rPr/>
              <a:t>国际合作与知识共享</a:t>
            </a:r>
          </a:p>
          <a:p>
            <a:pPr lvl="1"/>
            <a:r>
              <a:rPr/>
              <a:t>分阶段实施策略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挑战4：投资回报</a:t>
            </a:r>
          </a:p>
          <a:p>
            <a:pPr lvl="0"/>
            <a:r>
              <a:rPr b="1"/>
              <a:t>问题</a:t>
            </a:r>
            <a:r>
              <a:rPr/>
              <a:t>：智慧城市项目投资巨大，回报周期长</a:t>
            </a:r>
          </a:p>
          <a:p>
            <a:pPr lvl="0"/>
            <a:r>
              <a:rPr b="1"/>
              <a:t>应对</a:t>
            </a:r>
            <a:r>
              <a:rPr/>
              <a:t>：</a:t>
            </a:r>
          </a:p>
          <a:p>
            <a:pPr lvl="1"/>
            <a:r>
              <a:rPr/>
              <a:t>明确价值衡量指标</a:t>
            </a:r>
          </a:p>
          <a:p>
            <a:pPr lvl="1"/>
            <a:r>
              <a:rPr/>
              <a:t>公私合作模式创新</a:t>
            </a:r>
          </a:p>
          <a:p>
            <a:pPr lvl="1"/>
            <a:r>
              <a:rPr/>
              <a:t>分步实施降低风险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发展建议</a:t>
            </a:r>
          </a:p>
          <a:p>
            <a:pPr lvl="0" indent="0" marL="0">
              <a:buNone/>
            </a:pPr>
            <a:r>
              <a:rPr b="1"/>
              <a:t>对政府</a:t>
            </a:r>
            <a:r>
              <a:rPr/>
              <a:t> - 制定清晰的智慧城市发展路线图 - 建立跨部门协调机制 - 加大基础设施投资 - 完善相关法律法规</a:t>
            </a:r>
          </a:p>
          <a:p>
            <a:pPr lvl="0" indent="0" marL="0">
              <a:buNone/>
            </a:pPr>
            <a:r>
              <a:rPr b="1"/>
              <a:t>对企业</a:t>
            </a:r>
            <a:r>
              <a:rPr/>
              <a:t> - 关注实际应用场景和价值创造 - 投资核心技术研发 - 建立开放合作生态 - 重视数据安全和伦理</a:t>
            </a:r>
          </a:p>
          <a:p>
            <a:pPr lvl="0" indent="0" marL="0">
              <a:buNone/>
            </a:pPr>
            <a:r>
              <a:rPr b="1"/>
              <a:t>对公众</a:t>
            </a:r>
            <a:r>
              <a:rPr/>
              <a:t> - 提升数字素养 - 参与智慧城市建设 - 理性看待AI技术 - 保护个人隐私权益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核心要点</a:t>
            </a:r>
          </a:p>
          <a:p>
            <a:pPr lvl="0" indent="-342900" marL="342900">
              <a:buAutoNum type="arabicPeriod"/>
            </a:pPr>
            <a:r>
              <a:rPr b="1"/>
              <a:t>定位明确</a:t>
            </a:r>
            <a:r>
              <a:rPr/>
              <a:t>：智慧城市已从概念走向大规模运营实施</a:t>
            </a:r>
          </a:p>
          <a:p>
            <a:pPr lvl="0" indent="-342900" marL="342900">
              <a:buAutoNum type="arabicPeriod"/>
            </a:pPr>
            <a:r>
              <a:rPr b="1"/>
              <a:t>技术成熟</a:t>
            </a:r>
            <a:r>
              <a:rPr/>
              <a:t>：AI应用从试点项目转向日常运营</a:t>
            </a:r>
          </a:p>
          <a:p>
            <a:pPr lvl="0" indent="-342900" marL="342900">
              <a:buAutoNum type="arabicPeriod"/>
            </a:pPr>
            <a:r>
              <a:rPr b="1"/>
              <a:t>场景丰富</a:t>
            </a:r>
            <a:r>
              <a:rPr/>
              <a:t>：交通、安全、能源、服务等多领域应用</a:t>
            </a:r>
          </a:p>
          <a:p>
            <a:pPr lvl="0" indent="-342900" marL="342900">
              <a:buAutoNum type="arabicPeriod"/>
            </a:pPr>
            <a:r>
              <a:rPr b="1"/>
              <a:t>趋势清晰</a:t>
            </a:r>
            <a:r>
              <a:rPr/>
              <a:t>：规模化、标准化、智能化是主要方向</a:t>
            </a:r>
          </a:p>
          <a:p>
            <a:pPr lvl="0" indent="-342900" marL="342900">
              <a:buAutoNum type="arabicPeriod"/>
            </a:pPr>
            <a:r>
              <a:rPr b="1"/>
              <a:t>挑战并存</a:t>
            </a:r>
            <a:r>
              <a:rPr/>
              <a:t>：资源、隐私、投资等问题需要系统性解决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关键数据</a:t>
            </a:r>
          </a:p>
          <a:p>
            <a:pPr lvl="0"/>
            <a:r>
              <a:rPr/>
              <a:t>AI智慧城市应用市场呈现快速增长</a:t>
            </a:r>
          </a:p>
          <a:p>
            <a:pPr lvl="0"/>
            <a:r>
              <a:rPr/>
              <a:t>2026年全球城市人口占比超过60%</a:t>
            </a:r>
          </a:p>
          <a:p>
            <a:pPr lvl="0"/>
            <a:r>
              <a:rPr/>
              <a:t>运营成熟度显著提升，从愿景到实际影响</a:t>
            </a:r>
          </a:p>
          <a:p>
            <a:pPr lvl="0"/>
            <a:r>
              <a:rPr/>
              <a:t>AI数据中心需求推动能源基础设施创新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行动号召</a:t>
            </a:r>
          </a:p>
          <a:p>
            <a:pPr lvl="0"/>
            <a:r>
              <a:rPr b="1"/>
              <a:t>拥抱变革</a:t>
            </a:r>
            <a:r>
              <a:rPr/>
              <a:t>：积极参与智慧城市建设</a:t>
            </a:r>
          </a:p>
          <a:p>
            <a:pPr lvl="0"/>
            <a:r>
              <a:rPr b="1"/>
              <a:t>技术创新</a:t>
            </a:r>
            <a:r>
              <a:rPr/>
              <a:t>：持续投入AI技术研发</a:t>
            </a:r>
          </a:p>
          <a:p>
            <a:pPr lvl="0"/>
            <a:r>
              <a:rPr b="1"/>
              <a:t>协同合作</a:t>
            </a:r>
            <a:r>
              <a:rPr/>
              <a:t>：政府、企业、公众共同推进</a:t>
            </a:r>
          </a:p>
          <a:p>
            <a:pPr lvl="0"/>
            <a:r>
              <a:rPr b="1"/>
              <a:t>可持续发展</a:t>
            </a:r>
            <a:r>
              <a:rPr/>
              <a:t>：平衡技术进步与资源环境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参考资料来源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IDC Smart Cities 2026 报告</a:t>
            </a:r>
          </a:p>
          <a:p>
            <a:pPr lvl="0"/>
            <a:r>
              <a:rPr/>
              <a:t>Smart Cities Connect 2026 会议</a:t>
            </a:r>
          </a:p>
          <a:p>
            <a:pPr lvl="0"/>
            <a:r>
              <a:rPr/>
              <a:t>Smart City Summit &amp; Expo 2026（台北）</a:t>
            </a:r>
          </a:p>
          <a:p>
            <a:pPr lvl="0"/>
            <a:r>
              <a:rPr/>
              <a:t>全球AI智慧城市应用市场研究报告</a:t>
            </a:r>
          </a:p>
          <a:p>
            <a:pPr lvl="0"/>
            <a:r>
              <a:rPr/>
              <a:t>深圳自动驾驶技术案例</a:t>
            </a:r>
          </a:p>
          <a:p>
            <a:pPr lvl="0"/>
            <a:r>
              <a:rPr/>
              <a:t>能源存储与AI基础设施研究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演示文稿制作日期</a:t>
            </a:r>
            <a:r>
              <a:rPr/>
              <a:t>：2026年 </a:t>
            </a:r>
            <a:r>
              <a:rPr b="1"/>
              <a:t>主题</a:t>
            </a:r>
            <a:r>
              <a:rPr/>
              <a:t>：AI在智慧城市中的发展 </a:t>
            </a:r>
            <a:r>
              <a:rPr b="1"/>
              <a:t>适用场景</a:t>
            </a:r>
            <a:r>
              <a:rPr/>
              <a:t>：技术分享、商业提案、学术研讨、政策制定参考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2026-04-15T17:59:39Z</dcterms:created>
  <dcterms:modified xsi:type="dcterms:W3CDTF">2026-04-15T17:59:39Z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